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410E08-11F5-D35C-EF5A-2FB10A790083}" v="1" dt="2026-01-18T23:45:03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9"/>
  </p:normalViewPr>
  <p:slideViewPr>
    <p:cSldViewPr snapToGrid="0" snapToObjects="1">
      <p:cViewPr varScale="1">
        <p:scale>
          <a:sx n="115" d="100"/>
          <a:sy n="115" d="100"/>
        </p:scale>
        <p:origin x="17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Workflow vs Agent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ETL Migration from No-Code to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t>Week 3 - Task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54579-C33F-C56B-8E20-DCC10156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C52CA1-E38A-ED93-E645-62585960AFAC}"/>
              </a:ext>
            </a:extLst>
          </p:cNvPr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Workflow vs Agent Integration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6A8C4-0940-26CD-8B46-CEE15AF7666E}"/>
              </a:ext>
            </a:extLst>
          </p:cNvPr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ETL Migration from No-Code to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228BF-1C9F-27FA-2408-91587D486790}"/>
              </a:ext>
            </a:extLst>
          </p:cNvPr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t>Week 3 - Task 1</a:t>
            </a:r>
          </a:p>
        </p:txBody>
      </p:sp>
    </p:spTree>
    <p:extLst>
      <p:ext uri="{BB962C8B-B14F-4D97-AF65-F5344CB8AC3E}">
        <p14:creationId xmlns:p14="http://schemas.microsoft.com/office/powerpoint/2010/main" val="399311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Current Process: ETL Migration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Step 1: Analyze Service in No-Code ETL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Step 2: Write Analysis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Step 3: Write Python Code (Migration)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34465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Step 4: Test </a:t>
            </a:r>
            <a:r>
              <a:rPr lang="en-US" dirty="0"/>
              <a:t>Service using Test Data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Step 5: Self Review &amp; Submit for Further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Workflow Design: Fixed Sequential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371600"/>
            <a:ext cx="2743200" cy="731520"/>
          </a:xfrm>
          <a:prstGeom prst="rect">
            <a:avLst/>
          </a:prstGeom>
          <a:solidFill>
            <a:srgbClr val="D9E1F2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 1:</a:t>
            </a: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Analyze Service</a:t>
            </a:r>
          </a:p>
        </p:txBody>
      </p:sp>
      <p:sp>
        <p:nvSpPr>
          <p:cNvPr id="4" name="Hexagon 3"/>
          <p:cNvSpPr/>
          <p:nvPr/>
        </p:nvSpPr>
        <p:spPr>
          <a:xfrm>
            <a:off x="4572000" y="2103120"/>
            <a:ext cx="0" cy="182880"/>
          </a:xfrm>
          <a:prstGeom prst="hexagon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0" y="2286000"/>
            <a:ext cx="2743200" cy="731520"/>
          </a:xfrm>
          <a:prstGeom prst="rect">
            <a:avLst/>
          </a:prstGeom>
          <a:solidFill>
            <a:srgbClr val="D9E1F2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 2:</a:t>
            </a: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Write Analysis Docs</a:t>
            </a:r>
          </a:p>
        </p:txBody>
      </p:sp>
      <p:sp>
        <p:nvSpPr>
          <p:cNvPr id="6" name="Hexagon 5"/>
          <p:cNvSpPr/>
          <p:nvPr/>
        </p:nvSpPr>
        <p:spPr>
          <a:xfrm>
            <a:off x="4572000" y="3017520"/>
            <a:ext cx="0" cy="182880"/>
          </a:xfrm>
          <a:prstGeom prst="hexagon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2743200" cy="731520"/>
          </a:xfrm>
          <a:prstGeom prst="rect">
            <a:avLst/>
          </a:prstGeom>
          <a:solidFill>
            <a:srgbClr val="D9E1F2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 3:</a:t>
            </a: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Write Python Code</a:t>
            </a:r>
          </a:p>
        </p:txBody>
      </p:sp>
      <p:sp>
        <p:nvSpPr>
          <p:cNvPr id="8" name="Hexagon 7"/>
          <p:cNvSpPr/>
          <p:nvPr/>
        </p:nvSpPr>
        <p:spPr>
          <a:xfrm>
            <a:off x="4572000" y="3931920"/>
            <a:ext cx="0" cy="182880"/>
          </a:xfrm>
          <a:prstGeom prst="hexagon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D9E1F2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 4:</a:t>
            </a: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Test in DB</a:t>
            </a:r>
          </a:p>
        </p:txBody>
      </p:sp>
      <p:sp>
        <p:nvSpPr>
          <p:cNvPr id="10" name="Hexagon 9"/>
          <p:cNvSpPr/>
          <p:nvPr/>
        </p:nvSpPr>
        <p:spPr>
          <a:xfrm>
            <a:off x="4572000" y="4846320"/>
            <a:ext cx="0" cy="182880"/>
          </a:xfrm>
          <a:prstGeom prst="hexagon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5029200"/>
            <a:ext cx="2743200" cy="731520"/>
          </a:xfrm>
          <a:prstGeom prst="rect">
            <a:avLst/>
          </a:prstGeom>
          <a:solidFill>
            <a:srgbClr val="D9E1F2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 5:</a:t>
            </a: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Review &amp; Submit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Agent Design: Dynamic Decision Making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2779441" y="901855"/>
            <a:ext cx="3356517" cy="978521"/>
          </a:xfrm>
          <a:prstGeom prst="parallelogram">
            <a:avLst/>
          </a:prstGeom>
          <a:solidFill>
            <a:srgbClr val="FFF2CC"/>
          </a:solidFill>
          <a:ln w="381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Agent Decision Engine</a:t>
            </a: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(LLM analyzes context)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881"/>
            <a:ext cx="1371600" cy="731520"/>
          </a:xfrm>
          <a:prstGeom prst="rect">
            <a:avLst/>
          </a:prstGeom>
          <a:solidFill>
            <a:srgbClr val="C6E0B4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Service Analyzer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Hexagon 4"/>
          <p:cNvSpPr/>
          <p:nvPr/>
        </p:nvSpPr>
        <p:spPr>
          <a:xfrm flipV="1">
            <a:off x="1828800" y="1345397"/>
            <a:ext cx="1070517" cy="45719"/>
          </a:xfrm>
          <a:prstGeom prst="hexagon">
            <a:avLst/>
          </a:prstGeom>
          <a:noFill/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17" y="2906008"/>
            <a:ext cx="1677145" cy="1242246"/>
          </a:xfrm>
          <a:prstGeom prst="rect">
            <a:avLst/>
          </a:prstGeom>
          <a:solidFill>
            <a:srgbClr val="C6E0B4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Code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Generator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(with analysis doc as reference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86599" y="1087244"/>
            <a:ext cx="1371600" cy="731520"/>
          </a:xfrm>
          <a:prstGeom prst="rect">
            <a:avLst/>
          </a:prstGeom>
          <a:solidFill>
            <a:srgbClr val="C6E0B4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Documentation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Hexagon 8"/>
          <p:cNvSpPr/>
          <p:nvPr/>
        </p:nvSpPr>
        <p:spPr>
          <a:xfrm>
            <a:off x="7543800" y="2651760"/>
            <a:ext cx="0" cy="0"/>
          </a:xfrm>
          <a:prstGeom prst="hexagon">
            <a:avLst/>
          </a:prstGeom>
          <a:noFill/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4960FE94-15BD-B065-CC91-E0ECB934067C}"/>
              </a:ext>
            </a:extLst>
          </p:cNvPr>
          <p:cNvSpPr/>
          <p:nvPr/>
        </p:nvSpPr>
        <p:spPr>
          <a:xfrm rot="10800000" flipV="1">
            <a:off x="6016082" y="1444641"/>
            <a:ext cx="1070517" cy="45719"/>
          </a:xfrm>
          <a:prstGeom prst="hexagon">
            <a:avLst/>
          </a:prstGeom>
          <a:noFill/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CFF64565-01D5-31CA-9D7F-887C71535CD6}"/>
              </a:ext>
            </a:extLst>
          </p:cNvPr>
          <p:cNvSpPr/>
          <p:nvPr/>
        </p:nvSpPr>
        <p:spPr>
          <a:xfrm rot="5400000" flipV="1">
            <a:off x="7260000" y="2331163"/>
            <a:ext cx="1070517" cy="45719"/>
          </a:xfrm>
          <a:prstGeom prst="hexagon">
            <a:avLst/>
          </a:prstGeom>
          <a:noFill/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2B86A19A-AD3E-674A-A594-E8158AED328F}"/>
              </a:ext>
            </a:extLst>
          </p:cNvPr>
          <p:cNvSpPr/>
          <p:nvPr/>
        </p:nvSpPr>
        <p:spPr>
          <a:xfrm rot="10800000" flipV="1">
            <a:off x="6016081" y="3429000"/>
            <a:ext cx="1070517" cy="45719"/>
          </a:xfrm>
          <a:prstGeom prst="hexagon">
            <a:avLst/>
          </a:prstGeom>
          <a:noFill/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9B636C0D-F9E6-4D84-E37E-F063B077FA5D}"/>
              </a:ext>
            </a:extLst>
          </p:cNvPr>
          <p:cNvSpPr/>
          <p:nvPr/>
        </p:nvSpPr>
        <p:spPr>
          <a:xfrm rot="10800000" flipV="1">
            <a:off x="3192871" y="3428999"/>
            <a:ext cx="1070517" cy="45719"/>
          </a:xfrm>
          <a:prstGeom prst="hexagon">
            <a:avLst/>
          </a:prstGeom>
          <a:noFill/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961FE8-1EFD-A440-4657-A9C67C2F6359}"/>
              </a:ext>
            </a:extLst>
          </p:cNvPr>
          <p:cNvSpPr/>
          <p:nvPr/>
        </p:nvSpPr>
        <p:spPr>
          <a:xfrm>
            <a:off x="4309107" y="2830736"/>
            <a:ext cx="1677145" cy="1242246"/>
          </a:xfrm>
          <a:prstGeom prst="rect">
            <a:avLst/>
          </a:prstGeom>
          <a:solidFill>
            <a:srgbClr val="C6E0B4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Execute the service in cloud sandbox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720DFC-9683-2DC3-4672-06B80524DCA5}"/>
              </a:ext>
            </a:extLst>
          </p:cNvPr>
          <p:cNvSpPr/>
          <p:nvPr/>
        </p:nvSpPr>
        <p:spPr>
          <a:xfrm>
            <a:off x="1419407" y="5157996"/>
            <a:ext cx="1677145" cy="1242246"/>
          </a:xfrm>
          <a:prstGeom prst="rect">
            <a:avLst/>
          </a:prstGeom>
          <a:solidFill>
            <a:srgbClr val="C6E0B4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 review Agent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38B6C0-8A07-77F6-E0FC-F13AA74B352F}"/>
              </a:ext>
            </a:extLst>
          </p:cNvPr>
          <p:cNvSpPr/>
          <p:nvPr/>
        </p:nvSpPr>
        <p:spPr>
          <a:xfrm>
            <a:off x="1461225" y="2830736"/>
            <a:ext cx="1677145" cy="1242246"/>
          </a:xfrm>
          <a:prstGeom prst="rect">
            <a:avLst/>
          </a:prstGeom>
          <a:solidFill>
            <a:srgbClr val="C6E0B4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Test Data Validator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93DBD8C2-7C8D-FCB4-3460-1967D124B88C}"/>
              </a:ext>
            </a:extLst>
          </p:cNvPr>
          <p:cNvSpPr/>
          <p:nvPr/>
        </p:nvSpPr>
        <p:spPr>
          <a:xfrm rot="16200000" flipV="1">
            <a:off x="1731156" y="4585381"/>
            <a:ext cx="1070517" cy="45719"/>
          </a:xfrm>
          <a:prstGeom prst="hexagon">
            <a:avLst/>
          </a:prstGeom>
          <a:noFill/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Agent Decision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solidFill>
            <a:srgbClr val="D9E1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1. Situation: Complex transformation (15 steps)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83080"/>
            <a:ext cx="6858000" cy="365760"/>
          </a:xfrm>
          <a:prstGeom prst="rect">
            <a:avLst/>
          </a:prstGeom>
          <a:solidFill>
            <a:srgbClr val="FF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rPr dirty="0"/>
              <a:t>   → Decision: Analyze → Generate docs &amp; </a:t>
            </a:r>
            <a:r>
              <a:rPr lang="en-US" dirty="0"/>
              <a:t>and use the docs to write better code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solidFill>
            <a:srgbClr val="D9E1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2. Situation: Simple transformation (3 steps)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697480"/>
            <a:ext cx="6858000" cy="365760"/>
          </a:xfrm>
          <a:prstGeom prst="rect">
            <a:avLst/>
          </a:prstGeom>
          <a:solidFill>
            <a:srgbClr val="FF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   → Decision: Skip docs, generate code with inline comments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solidFill>
            <a:srgbClr val="D9E1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3. Situation: Tests failed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611880"/>
            <a:ext cx="6858000" cy="365760"/>
          </a:xfrm>
          <a:prstGeom prst="rect">
            <a:avLst/>
          </a:prstGeom>
          <a:solidFill>
            <a:srgbClr val="FF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   → Decision: Analyze error → Fix code → Re-run tests (loop)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solidFill>
            <a:srgbClr val="D9E1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4. Situation: All tests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26280"/>
            <a:ext cx="6858000" cy="365760"/>
          </a:xfrm>
          <a:prstGeom prst="rect">
            <a:avLst/>
          </a:prstGeom>
          <a:solidFill>
            <a:srgbClr val="FF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   → Decision: Code quality review → Apply best practices → Submit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When to Use Workflow (Fixed Steps)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Process is Well-Defined and Stable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Compliance and Audit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Team Consistency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Predictable Resource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Simple to Moderate Complexity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When to Use Agent (Dynamic)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Variable Complexity (simple to complex services)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Dynamic Requirements (frequently changing needs)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Error-Prone Tasks (auto-detection &amp; recovery)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Resource Optimization (minimize unnecessary 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Exploratory Work (unknown service structures)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✓ Autonomous Operation (minimal human intervention)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4329</TotalTime>
  <Words>317</Words>
  <Application>Microsoft Office PowerPoint</Application>
  <PresentationFormat>On-screen Show (4:3)</PresentationFormat>
  <Paragraphs>51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CM, Kishore</cp:lastModifiedBy>
  <cp:revision>5</cp:revision>
  <dcterms:created xsi:type="dcterms:W3CDTF">2013-01-27T09:14:16Z</dcterms:created>
  <dcterms:modified xsi:type="dcterms:W3CDTF">2026-01-18T23:46:45Z</dcterms:modified>
  <cp:category/>
</cp:coreProperties>
</file>